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Council Schools Annual Event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the Loop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 Plan, Create, and Assess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Bilingual STEM Classroom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2011680" cy="36576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37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Forero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Design &amp; Technology  |  Marymount Medellín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54112" y="1444752"/>
            <a:ext cx="585216" cy="585216"/>
          </a:xfrm>
          <a:prstGeom prst="ellipse">
            <a:avLst/>
          </a:prstGeom>
          <a:solidFill>
            <a:srgbClr val="C8952A"/>
          </a:solidFill>
          <a:ln w="25400">
            <a:solidFill>
              <a:srgbClr val="C89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572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467344" y="2679192"/>
            <a:ext cx="585216" cy="585216"/>
          </a:xfrm>
          <a:prstGeom prst="ellipse">
            <a:avLst/>
          </a:prstGeom>
          <a:solidFill>
            <a:srgbClr val="1B2E45"/>
          </a:solidFill>
          <a:ln w="25400">
            <a:solidFill>
              <a:srgbClr val="C89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28072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40880" y="2679192"/>
            <a:ext cx="585216" cy="585216"/>
          </a:xfrm>
          <a:prstGeom prst="ellipse">
            <a:avLst/>
          </a:prstGeom>
          <a:solidFill>
            <a:srgbClr val="1B2E45"/>
          </a:solidFill>
          <a:ln w="25400">
            <a:solidFill>
              <a:srgbClr val="C8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28072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365760"/>
            <a:ext cx="45720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16916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502920"/>
            <a:ext cx="64008" cy="169164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94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you spent more than two hours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planning a lesson?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6916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23160"/>
            <a:ext cx="64008" cy="16916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you spent more than one hour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grading?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most of our week. And most of that time — it isn't teaching. It's logistics.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365760"/>
            <a:ext cx="45720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606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Lesson Planning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329184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B2E45"/>
          </a:solidFill>
          <a:ln w="19050">
            <a:solidFill>
              <a:srgbClr val="C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91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0:02 – 0:12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023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going to do something I actually do every week."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|  The Planning Prompt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33832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024128"/>
            <a:ext cx="146304" cy="14630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024128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8321040" cy="28346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</a:t>
            </a:r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IGCSE 0445 Design and Technology teacher</a:t>
            </a:r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at a bilingual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Cambridge school in Colombia. Students are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10, fluent English speakers.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60-minute lesson plan</a:t>
            </a:r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Logic Gates (AND, OR, NOT)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traffic light</a:t>
            </a:r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the real-world example, aligned to Cambridge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IGCSE 0445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syllabus objective 4.4.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a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vocabulary list</a:t>
            </a:r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of 10 key terms with precise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definitions suitable for exam responses.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more context you give, the more targeted the output.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365760"/>
            <a:ext cx="45720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606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Learning Tool During Class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329184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B2E45"/>
          </a:solidFill>
          <a:ln w="19050">
            <a:solidFill>
              <a:srgbClr val="C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91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0:12 – 0:29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"Describe it. Generate it. Test it. Fix your words, not the code."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|  The Power of Precision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977640"/>
          </a:xfrm>
          <a:prstGeom prst="rect">
            <a:avLst/>
          </a:prstGeom>
          <a:solidFill>
            <a:srgbClr val="FDF0EE"/>
          </a:solidFill>
          <a:ln w="19050">
            <a:solidFill>
              <a:srgbClr val="E8C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3977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Vague prompt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657600" cy="594360"/>
          </a:xfrm>
          <a:prstGeom prst="rect">
            <a:avLst/>
          </a:prstGeom>
          <a:solidFill>
            <a:srgbClr val="F8E0DC"/>
          </a:solidFill>
          <a:ln w="12700">
            <a:solidFill>
              <a:srgbClr val="F8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a traffic light."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56616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hardware specified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behavior described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timing or conditions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code comments requested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822960"/>
            <a:ext cx="3931920" cy="3977640"/>
          </a:xfrm>
          <a:prstGeom prst="rect">
            <a:avLst/>
          </a:prstGeom>
          <a:solidFill>
            <a:srgbClr val="EAF6EE"/>
          </a:solidFill>
          <a:ln w="19050">
            <a:solidFill>
              <a:srgbClr val="B8D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822960"/>
            <a:ext cx="64008" cy="3977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Precise prompt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4920" y="1371600"/>
            <a:ext cx="3657600" cy="1371600"/>
          </a:xfrm>
          <a:prstGeom prst="rect">
            <a:avLst/>
          </a:prstGeom>
          <a:solidFill>
            <a:srgbClr val="D8F0DE"/>
          </a:solidFill>
          <a:ln w="12700">
            <a:solidFill>
              <a:srgbClr val="D8F0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389888"/>
            <a:ext cx="3520440" cy="13350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C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C++ code for an ESP32 on Wokwi that simulates a pedestrian traffic light. Red: 10s, Green: 8s, Yellow: 3s. When button pressed during red, activate pedestrian signal 6s..."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907792"/>
            <a:ext cx="356616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Hardware specified (ESP32 + Wokwi)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Behavior described precisely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Timing and conditions included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Comments in plain English requested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15968" y="2743200"/>
            <a:ext cx="502920" cy="365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25420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206240" y="2971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|  Your Turn — Work in Pairs  |  10 minutes  |  No writing code yourself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937760" cy="41605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64008" cy="416052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4663440" cy="1417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4526280" cy="13533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C++ code for an ESP32 on Wokwi that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simulates a traffic light system for a school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crossing. The system should: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— ______________________________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— ______________________________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— ______________________________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comments in plain English."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16352"/>
            <a:ext cx="45720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prompt above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code → paste into Wokwi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it. Fix your words, not the code.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rubric for this activity.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731520"/>
            <a:ext cx="3474720" cy="41605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4960" y="822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WOKWI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298448"/>
            <a:ext cx="2743200" cy="2743200"/>
          </a:xfrm>
          <a:prstGeom prst="rect">
            <a:avLst/>
          </a:prstGeom>
          <a:solidFill>
            <a:srgbClr val="1E2D3D"/>
          </a:solidFill>
          <a:ln w="25400">
            <a:solidFill>
              <a:srgbClr val="C895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0448" y="1408176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45936" y="1408176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21424" y="1408176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96912" y="1408176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1408176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0448" y="1883664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1883664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0448" y="2359152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21424" y="2359152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2359152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0448" y="2834640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2834640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3310128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45936" y="3310128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21424" y="3310128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3310128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3310128"/>
            <a:ext cx="384048" cy="384048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4133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Wokwi QR code 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|  Step 4 — Generate the Rubric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28803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024128"/>
            <a:ext cx="146304" cy="14630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024128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8321040" cy="24231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a rubric to assess a </a:t>
            </a:r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10 student's</a:t>
            </a:r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traffic light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description and simulation.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the following grading scale: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1, 1.3, 1.7, 2, 2.3, 2.7, 3, 3.3, 3.7, 4</a:t>
            </a:r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where 4 is the highest.
Assess three criteria:
</a:t>
            </a:r>
            <a:pPr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Accuracy of system description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Quality of justification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Evidence of testing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913632"/>
            <a:ext cx="8503920" cy="868680"/>
          </a:xfrm>
          <a:prstGeom prst="rect">
            <a:avLst/>
          </a:prstGeom>
          <a:solidFill>
            <a:srgbClr val="FFF8E8"/>
          </a:solidFill>
          <a:ln w="19050">
            <a:solidFill>
              <a:srgbClr val="C895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913632"/>
            <a:ext cx="64008" cy="86868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13632"/>
            <a:ext cx="822960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Save this prompt. Change three words next time → new rubric in 30 seconds. This is your prompt library.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365760"/>
            <a:ext cx="45720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606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Grading and Formative Feedback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329184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B2E45"/>
          </a:solidFill>
          <a:ln w="19050">
            <a:solidFill>
              <a:srgbClr val="C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91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0:29 – 0:47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023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gives you a first pass. You make the final call."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|  Grade This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69080"/>
          </a:xfrm>
          <a:prstGeom prst="rect">
            <a:avLst/>
          </a:prstGeom>
          <a:solidFill>
            <a:srgbClr val="FDF0EE"/>
          </a:solidFill>
          <a:ln w="12700">
            <a:solidFill>
              <a:srgbClr val="E0C8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4069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RESPONSE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703320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traffic light system works by changing colors. First it goes red then green then yellow. I added a button for pedestrians. When they press it the light changes. I tested it and it worked fine. I think it meets the requirements because the lights change correctly."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4069080"/>
          </a:xfrm>
          <a:prstGeom prst="rect">
            <a:avLst/>
          </a:prstGeom>
          <a:solidFill>
            <a:srgbClr val="EAF6EE"/>
          </a:solidFill>
          <a:ln w="12700">
            <a:solidFill>
              <a:srgbClr val="B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64008" cy="4069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RUBRIC (from Phase 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1353312"/>
            <a:ext cx="960120" cy="384048"/>
          </a:xfrm>
          <a:prstGeom prst="rect">
            <a:avLst/>
          </a:prstGeom>
          <a:solidFill>
            <a:srgbClr val="1A7A4A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53312"/>
            <a:ext cx="960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353312"/>
            <a:ext cx="868680" cy="384048"/>
          </a:xfrm>
          <a:prstGeom prst="rect">
            <a:avLst/>
          </a:prstGeom>
          <a:solidFill>
            <a:srgbClr val="1A7A4A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353312"/>
            <a:ext cx="868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1.7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1353312"/>
            <a:ext cx="868680" cy="384048"/>
          </a:xfrm>
          <a:prstGeom prst="rect">
            <a:avLst/>
          </a:prstGeom>
          <a:solidFill>
            <a:srgbClr val="1A7A4A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353312"/>
            <a:ext cx="868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2.7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80960" y="1353312"/>
            <a:ext cx="868680" cy="384048"/>
          </a:xfrm>
          <a:prstGeom prst="rect">
            <a:avLst/>
          </a:prstGeom>
          <a:solidFill>
            <a:srgbClr val="1A7A4A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353312"/>
            <a:ext cx="868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3480" y="1737360"/>
            <a:ext cx="960120" cy="685800"/>
          </a:xfrm>
          <a:prstGeom prst="rect">
            <a:avLst/>
          </a:prstGeom>
          <a:solidFill>
            <a:srgbClr val="EAF6EE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737360"/>
            <a:ext cx="960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1737360"/>
            <a:ext cx="868680" cy="685800"/>
          </a:xfrm>
          <a:prstGeom prst="rect">
            <a:avLst/>
          </a:prstGeom>
          <a:solidFill>
            <a:srgbClr val="EAF6EE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37360"/>
            <a:ext cx="868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1737360"/>
            <a:ext cx="868680" cy="685800"/>
          </a:xfrm>
          <a:prstGeom prst="rect">
            <a:avLst/>
          </a:prstGeom>
          <a:solidFill>
            <a:srgbClr val="EAF6EE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737360"/>
            <a:ext cx="868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clear,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gaps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80960" y="1737360"/>
            <a:ext cx="868680" cy="685800"/>
          </a:xfrm>
          <a:prstGeom prst="rect">
            <a:avLst/>
          </a:prstGeom>
          <a:solidFill>
            <a:srgbClr val="EAF6EE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737360"/>
            <a:ext cx="868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83480" y="2423160"/>
            <a:ext cx="960120" cy="685800"/>
          </a:xfrm>
          <a:prstGeom prst="rect">
            <a:avLst/>
          </a:prstGeom>
          <a:solidFill>
            <a:srgbClr val="F0FAF3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423160"/>
            <a:ext cx="960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2423160"/>
            <a:ext cx="868680" cy="685800"/>
          </a:xfrm>
          <a:prstGeom prst="rect">
            <a:avLst/>
          </a:prstGeom>
          <a:solidFill>
            <a:srgbClr val="F0FAF3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23160"/>
            <a:ext cx="868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12280" y="2423160"/>
            <a:ext cx="868680" cy="685800"/>
          </a:xfrm>
          <a:prstGeom prst="rect">
            <a:avLst/>
          </a:prstGeom>
          <a:solidFill>
            <a:srgbClr val="F0FAF3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2423160"/>
            <a:ext cx="868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reasoning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80960" y="2423160"/>
            <a:ext cx="868680" cy="685800"/>
          </a:xfrm>
          <a:prstGeom prst="rect">
            <a:avLst/>
          </a:prstGeom>
          <a:solidFill>
            <a:srgbClr val="F0FAF3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2423160"/>
            <a:ext cx="868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justified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83480" y="3108960"/>
            <a:ext cx="960120" cy="685800"/>
          </a:xfrm>
          <a:prstGeom prst="rect">
            <a:avLst/>
          </a:prstGeom>
          <a:solidFill>
            <a:srgbClr val="EAF6EE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108960"/>
            <a:ext cx="960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3108960"/>
            <a:ext cx="868680" cy="685800"/>
          </a:xfrm>
          <a:prstGeom prst="rect">
            <a:avLst/>
          </a:prstGeom>
          <a:solidFill>
            <a:srgbClr val="EAF6EE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108960"/>
            <a:ext cx="868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mentioned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2280" y="3108960"/>
            <a:ext cx="868680" cy="685800"/>
          </a:xfrm>
          <a:prstGeom prst="rect">
            <a:avLst/>
          </a:prstGeom>
          <a:solidFill>
            <a:srgbClr val="EAF6EE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3108960"/>
            <a:ext cx="868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testing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680960" y="3108960"/>
            <a:ext cx="868680" cy="685800"/>
          </a:xfrm>
          <a:prstGeom prst="rect">
            <a:avLst/>
          </a:prstGeom>
          <a:solidFill>
            <a:srgbClr val="EAF6EE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3108960"/>
            <a:ext cx="868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results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8348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· 1.3 · 1.7 · 2 · 2.3 · 2.7 · 3 · 3.3 · 3.7 · 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|  The Grading Prompt — Everyone send this 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31089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024128"/>
            <a:ext cx="146304" cy="14630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024128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8321040" cy="26517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</a:t>
            </a:r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and Technology teacher</a:t>
            </a:r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using the rubric
below to assess a student's work.
For each criterion, state the grade using the scale:
</a:t>
            </a:r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1, 1.3, 1.7, 2, 2.3, 2.7, 3, 3.3, 3.7, 4</a:t>
            </a:r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Explain specifically what is missing and how the
student could improve to reach a higher level."
</a:t>
            </a:r>
            <a:pPr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Then paste the rubric + the student response below the prompt.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solidFill>
            <a:srgbClr val="EEF4FB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3308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accurate?   Is it fair?   Would you send this to a student as written, or would you edit it first?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046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today is on this page.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017520" y="1325880"/>
            <a:ext cx="310896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C895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1752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17520" y="2834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website URL 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27248" y="1435608"/>
            <a:ext cx="411480" cy="41148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508760"/>
            <a:ext cx="265176" cy="2651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02352" y="1435608"/>
            <a:ext cx="411480" cy="41148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75504" y="1508760"/>
            <a:ext cx="265176" cy="2651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27248" y="3410712"/>
            <a:ext cx="411480" cy="41148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483864"/>
            <a:ext cx="265176" cy="2651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994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ready-to-use prompts  ·  Wokwi simulation  ·  Rubric template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Webpage generator prompt  ·  Exam grading tool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0"/>
            <a:ext cx="8412480" cy="2560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31520"/>
            <a:ext cx="64008" cy="256032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85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8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909560" cy="1691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will not make you a better teacher by itself.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will do is give you back time.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with that time —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still entirely you.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2103120" cy="685800"/>
          </a:xfrm>
          <a:prstGeom prst="ellipse">
            <a:avLst/>
          </a:prstGeom>
          <a:solidFill>
            <a:srgbClr val="1B2E45"/>
          </a:solidFill>
          <a:ln w="19050">
            <a:solidFill>
              <a:srgbClr val="C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35661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52A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3520440"/>
            <a:ext cx="2103120" cy="685800"/>
          </a:xfrm>
          <a:prstGeom prst="ellipse">
            <a:avLst/>
          </a:prstGeom>
          <a:solidFill>
            <a:srgbClr val="C8952A"/>
          </a:solidFill>
          <a:ln w="19050">
            <a:solidFill>
              <a:srgbClr val="C89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520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23560" y="35661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52A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3520440"/>
            <a:ext cx="2103120" cy="685800"/>
          </a:xfrm>
          <a:prstGeom prst="ellipse">
            <a:avLst/>
          </a:prstGeom>
          <a:solidFill>
            <a:srgbClr val="1B2E45"/>
          </a:solidFill>
          <a:ln w="19050">
            <a:solidFill>
              <a:srgbClr val="C89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520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Forero  |  andres.forero@marymount.edu.co  |  Marymount Medellín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the Loop — Workshop Slides</dc:title>
  <dc:subject>PptxGenJS Presentation</dc:subject>
  <dc:creator>Andrés Forero</dc:creator>
  <cp:lastModifiedBy>Andrés Forero</cp:lastModifiedBy>
  <cp:revision>1</cp:revision>
  <dcterms:created xsi:type="dcterms:W3CDTF">2026-04-17T01:07:37Z</dcterms:created>
  <dcterms:modified xsi:type="dcterms:W3CDTF">2026-04-17T01:07:37Z</dcterms:modified>
</cp:coreProperties>
</file>