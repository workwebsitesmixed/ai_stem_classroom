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move 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78CB0FE-A623-4E03-B159-A66882897D7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C44048-9F4E-4DA1-AB58-693C14CC81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70DC0F-F724-4033-95B7-11651F8EE0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B378009-1E29-4B97-BCD1-7D2438DD60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1CE2A50-4061-4240-B25A-FF4026830D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EC96F91-EC2E-436A-AACB-AD59DD348D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2C989A-CC2C-4067-BAEA-6A7E6E8E181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9B43C6-9419-49A6-A49E-582A3E3D0E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BE8B05-4466-4824-8CEE-6FA8F3B2FD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1CB82EB-0636-469A-A065-56579FDCC1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FD61442-E3EC-4EAC-8C6F-EDAC4F26C1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7FCFD7-067A-431E-A589-48B6C7A415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6BA482-01E5-4553-B106-05221D1772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162320C-0BA4-45CF-B663-54CE1B44537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text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365760" y="25596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8fa3bc"/>
                </a:solidFill>
                <a:effectLst/>
                <a:uFillTx/>
                <a:latin typeface="Calibri"/>
                <a:ea typeface="Calibri"/>
              </a:rPr>
              <a:t>British Council Schools Annual Event 2026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502920" y="91440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Mastering the Loop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502920" y="1965960"/>
            <a:ext cx="71319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e8b84b"/>
                </a:solidFill>
                <a:effectLst/>
                <a:uFillTx/>
                <a:latin typeface="Calibri"/>
                <a:ea typeface="Calibri"/>
              </a:rPr>
              <a:t>Using AI to Plan, Create, and Assess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e8b84b"/>
                </a:solidFill>
                <a:effectLst/>
                <a:uFillTx/>
                <a:latin typeface="Calibri"/>
                <a:ea typeface="Calibri"/>
              </a:rPr>
              <a:t>in a Bilingual STEM Classroom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4"/>
          <p:cNvSpPr/>
          <p:nvPr/>
        </p:nvSpPr>
        <p:spPr>
          <a:xfrm>
            <a:off x="502920" y="3200400"/>
            <a:ext cx="2011320" cy="363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502920" y="3337560"/>
            <a:ext cx="54860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Andrés Forero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502920" y="374904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8fa3bc"/>
                </a:solidFill>
                <a:effectLst/>
                <a:uFillTx/>
                <a:latin typeface="Calibri"/>
                <a:ea typeface="Calibri"/>
              </a:rPr>
              <a:t>Head of Design &amp; Technology  |  Marymount Medellín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7754040" y="1444680"/>
            <a:ext cx="585000" cy="585000"/>
          </a:xfrm>
          <a:prstGeom prst="ellipse">
            <a:avLst/>
          </a:prstGeom>
          <a:solidFill>
            <a:srgbClr val="c8952a"/>
          </a:solidFill>
          <a:ln w="254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7589520" y="1572840"/>
            <a:ext cx="9140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PLAN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8467200" y="2679120"/>
            <a:ext cx="585000" cy="585000"/>
          </a:xfrm>
          <a:prstGeom prst="ellipse">
            <a:avLst/>
          </a:prstGeom>
          <a:solidFill>
            <a:srgbClr val="1b2e45"/>
          </a:solidFill>
          <a:ln w="254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302680" y="2807280"/>
            <a:ext cx="9140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CREATE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11"/>
          <p:cNvSpPr/>
          <p:nvPr/>
        </p:nvSpPr>
        <p:spPr>
          <a:xfrm>
            <a:off x="7040880" y="2679120"/>
            <a:ext cx="585000" cy="585000"/>
          </a:xfrm>
          <a:prstGeom prst="ellipse">
            <a:avLst/>
          </a:prstGeom>
          <a:solidFill>
            <a:srgbClr val="1b2e45"/>
          </a:solidFill>
          <a:ln w="254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6876360" y="2807280"/>
            <a:ext cx="9140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ASSESS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/>
          <p:cNvSpPr/>
          <p:nvPr/>
        </p:nvSpPr>
        <p:spPr>
          <a:xfrm>
            <a:off x="5029200" y="-365760"/>
            <a:ext cx="4571640" cy="548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0" b="1" u="none" strike="noStrike">
                <a:solidFill>
                  <a:srgbClr val="ffffff">
                    <a:alpha val="8000"/>
                  </a:srgbClr>
                </a:solidFill>
                <a:effectLst/>
                <a:uFillTx/>
                <a:latin typeface="Calibri"/>
                <a:ea typeface="Calibri"/>
              </a:rPr>
              <a:t>?</a:t>
            </a:r>
            <a:endParaRPr lang="en-US" sz="2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457200" y="502920"/>
            <a:ext cx="8229240" cy="1691280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2"/>
          <p:cNvSpPr/>
          <p:nvPr/>
        </p:nvSpPr>
        <p:spPr>
          <a:xfrm>
            <a:off x="457200" y="502920"/>
            <a:ext cx="63720" cy="169128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94360" y="594360"/>
            <a:ext cx="639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4"/>
          <p:cNvSpPr/>
          <p:nvPr/>
        </p:nvSpPr>
        <p:spPr>
          <a:xfrm>
            <a:off x="594360" y="960120"/>
            <a:ext cx="78634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How many of you spent more than two hours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last week planning a lesson?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457200" y="2423160"/>
            <a:ext cx="8229240" cy="1691280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6"/>
          <p:cNvSpPr/>
          <p:nvPr/>
        </p:nvSpPr>
        <p:spPr>
          <a:xfrm>
            <a:off x="457200" y="2423160"/>
            <a:ext cx="63720" cy="16912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7"/>
          <p:cNvSpPr/>
          <p:nvPr/>
        </p:nvSpPr>
        <p:spPr>
          <a:xfrm>
            <a:off x="594360" y="2514600"/>
            <a:ext cx="639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e8b84b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594360" y="2880360"/>
            <a:ext cx="78634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How many of you spent more than one hour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last week grading?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457200" y="43434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i="1" u="none" strike="noStrike">
                <a:solidFill>
                  <a:srgbClr val="8fa3bc"/>
                </a:solidFill>
                <a:effectLst/>
                <a:uFillTx/>
                <a:latin typeface="Calibri"/>
                <a:ea typeface="Calibri"/>
              </a:rPr>
              <a:t>That's most of our week. And most of that time — it isn't teaching. It's logistics.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5029200" y="-365760"/>
            <a:ext cx="4571640" cy="548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0" b="1" u="none" strike="noStrike">
                <a:solidFill>
                  <a:srgbClr val="ffffff">
                    <a:alpha val="8000"/>
                  </a:srgbClr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"/>
          <p:cNvSpPr/>
          <p:nvPr/>
        </p:nvSpPr>
        <p:spPr>
          <a:xfrm>
            <a:off x="411480" y="100584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pc="499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PHASE 01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3"/>
          <p:cNvSpPr/>
          <p:nvPr/>
        </p:nvSpPr>
        <p:spPr>
          <a:xfrm>
            <a:off x="411480" y="1463040"/>
            <a:ext cx="6400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 Architect</a:t>
            </a:r>
            <a:endParaRPr lang="en-US" sz="5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4"/>
          <p:cNvSpPr/>
          <p:nvPr/>
        </p:nvSpPr>
        <p:spPr>
          <a:xfrm>
            <a:off x="411480" y="2606040"/>
            <a:ext cx="5486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u="none" strike="noStrike">
                <a:solidFill>
                  <a:srgbClr val="e8b84b"/>
                </a:solidFill>
                <a:effectLst/>
                <a:uFillTx/>
                <a:latin typeface="Calibri"/>
                <a:ea typeface="Calibri"/>
              </a:rPr>
              <a:t>AI for Lesson Planning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5"/>
          <p:cNvSpPr/>
          <p:nvPr/>
        </p:nvSpPr>
        <p:spPr>
          <a:xfrm>
            <a:off x="411480" y="3291840"/>
            <a:ext cx="1919880" cy="475200"/>
          </a:xfrm>
          <a:prstGeom prst="roundRect">
            <a:avLst>
              <a:gd name="adj" fmla="val 15385"/>
            </a:avLst>
          </a:prstGeom>
          <a:solidFill>
            <a:srgbClr val="1b2e45"/>
          </a:solidFill>
          <a:ln w="1905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6"/>
          <p:cNvSpPr/>
          <p:nvPr/>
        </p:nvSpPr>
        <p:spPr>
          <a:xfrm>
            <a:off x="411480" y="3291840"/>
            <a:ext cx="1919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0:02 – 0:12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7"/>
          <p:cNvSpPr/>
          <p:nvPr/>
        </p:nvSpPr>
        <p:spPr>
          <a:xfrm>
            <a:off x="411480" y="4023360"/>
            <a:ext cx="6857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i="1" u="none" strike="noStrike">
                <a:solidFill>
                  <a:srgbClr val="8fa3bc"/>
                </a:solidFill>
                <a:effectLst/>
                <a:uFillTx/>
                <a:latin typeface="Calibri"/>
                <a:ea typeface="Calibri"/>
              </a:rPr>
              <a:t>"I'm going to do something I actually do every week."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320040" y="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PHASE 01  |  The Planning Prompt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"/>
          <p:cNvSpPr/>
          <p:nvPr/>
        </p:nvSpPr>
        <p:spPr>
          <a:xfrm>
            <a:off x="320040" y="904680"/>
            <a:ext cx="8503560" cy="338292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3"/>
          <p:cNvSpPr/>
          <p:nvPr/>
        </p:nvSpPr>
        <p:spPr>
          <a:xfrm>
            <a:off x="548640" y="1024200"/>
            <a:ext cx="145800" cy="1458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4"/>
          <p:cNvSpPr/>
          <p:nvPr/>
        </p:nvSpPr>
        <p:spPr>
          <a:xfrm>
            <a:off x="804600" y="1024200"/>
            <a:ext cx="145800" cy="145800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5"/>
          <p:cNvSpPr/>
          <p:nvPr/>
        </p:nvSpPr>
        <p:spPr>
          <a:xfrm>
            <a:off x="1060560" y="1024200"/>
            <a:ext cx="145800" cy="1458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6"/>
          <p:cNvSpPr/>
          <p:nvPr/>
        </p:nvSpPr>
        <p:spPr>
          <a:xfrm>
            <a:off x="457200" y="1261800"/>
            <a:ext cx="832068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You are </a:t>
            </a:r>
            <a:r>
              <a:rPr lang="en-US" sz="1400" b="1" u="none" strike="noStrike">
                <a:solidFill>
                  <a:srgbClr val="e8b84b"/>
                </a:solidFill>
                <a:effectLst/>
                <a:uFillTx/>
                <a:latin typeface="Adwaita Mono"/>
                <a:ea typeface="Consolas"/>
              </a:rPr>
              <a:t>an IGCSE 0445 Design and Technology teacher</a:t>
            </a: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 at a bilingual Cambridge school in Colombia. Students are </a:t>
            </a:r>
            <a:r>
              <a:rPr lang="en-US" sz="1400" b="1" u="none" strike="noStrike">
                <a:solidFill>
                  <a:srgbClr val="e8b84b"/>
                </a:solidFill>
                <a:effectLst/>
                <a:uFillTx/>
                <a:latin typeface="Adwaita Mono"/>
                <a:ea typeface="Consolas"/>
              </a:rPr>
              <a:t>Grade 10, fluent English speakers.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Generate a </a:t>
            </a:r>
            <a:r>
              <a:rPr lang="en-US" sz="1400" b="1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60-minute lesson plan</a:t>
            </a: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 for Logic Gates (AND, OR, NOT)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using a </a:t>
            </a:r>
            <a:r>
              <a:rPr lang="en-US" sz="1400" b="1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traffic light</a:t>
            </a: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 as the real-world example, aligned to Cambridge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IGCSE 0445 </a:t>
            </a:r>
            <a:r>
              <a:rPr lang="en-US" sz="1400" b="1" u="none" strike="noStrike">
                <a:solidFill>
                  <a:srgbClr val="e8b84b"/>
                </a:solidFill>
                <a:effectLst/>
                <a:uFillTx/>
                <a:latin typeface="Adwaita Mono"/>
                <a:ea typeface="Consolas"/>
              </a:rPr>
              <a:t>syllabus objective 4.4.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Include a </a:t>
            </a:r>
            <a:r>
              <a:rPr lang="en-US" sz="1400" b="1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technical vocabulary list</a:t>
            </a: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 of 10 key terms with precise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definitions suitable for exam responses.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</p:txBody>
      </p:sp>
      <p:sp>
        <p:nvSpPr>
          <p:cNvPr id="48" name="Text 7"/>
          <p:cNvSpPr/>
          <p:nvPr/>
        </p:nvSpPr>
        <p:spPr>
          <a:xfrm>
            <a:off x="320040" y="4434840"/>
            <a:ext cx="8503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5a7a9a"/>
                </a:solidFill>
                <a:effectLst/>
                <a:uFillTx/>
                <a:latin typeface="Calibri"/>
                <a:ea typeface="Calibri"/>
              </a:rPr>
              <a:t>💡  The more context you give, the more targeted the output.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 0"/>
          <p:cNvSpPr/>
          <p:nvPr/>
        </p:nvSpPr>
        <p:spPr>
          <a:xfrm>
            <a:off x="5029200" y="-365760"/>
            <a:ext cx="4571640" cy="548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0" b="1" u="none" strike="noStrike">
                <a:solidFill>
                  <a:srgbClr val="ffffff">
                    <a:alpha val="8000"/>
                  </a:srgbClr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"/>
          <p:cNvSpPr/>
          <p:nvPr/>
        </p:nvSpPr>
        <p:spPr>
          <a:xfrm>
            <a:off x="411480" y="100584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pc="499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PHASE 02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3"/>
          <p:cNvSpPr/>
          <p:nvPr/>
        </p:nvSpPr>
        <p:spPr>
          <a:xfrm>
            <a:off x="411480" y="1463040"/>
            <a:ext cx="6400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 Builder</a:t>
            </a:r>
            <a:endParaRPr lang="en-US" sz="5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4"/>
          <p:cNvSpPr/>
          <p:nvPr/>
        </p:nvSpPr>
        <p:spPr>
          <a:xfrm>
            <a:off x="411480" y="2606040"/>
            <a:ext cx="6400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u="none" strike="noStrike">
                <a:solidFill>
                  <a:srgbClr val="e8b84b"/>
                </a:solidFill>
                <a:effectLst/>
                <a:uFillTx/>
                <a:latin typeface="Calibri"/>
                <a:ea typeface="Calibri"/>
              </a:rPr>
              <a:t>AI as a Learning Tool During Class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5"/>
          <p:cNvSpPr/>
          <p:nvPr/>
        </p:nvSpPr>
        <p:spPr>
          <a:xfrm>
            <a:off x="411480" y="3291840"/>
            <a:ext cx="1919880" cy="475200"/>
          </a:xfrm>
          <a:prstGeom prst="roundRect">
            <a:avLst>
              <a:gd name="adj" fmla="val 15385"/>
            </a:avLst>
          </a:prstGeom>
          <a:solidFill>
            <a:srgbClr val="1b2e45"/>
          </a:solidFill>
          <a:ln w="1905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6"/>
          <p:cNvSpPr/>
          <p:nvPr/>
        </p:nvSpPr>
        <p:spPr>
          <a:xfrm>
            <a:off x="411480" y="3291840"/>
            <a:ext cx="1919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0:12 – 0:29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7"/>
          <p:cNvSpPr/>
          <p:nvPr/>
        </p:nvSpPr>
        <p:spPr>
          <a:xfrm>
            <a:off x="411480" y="4023360"/>
            <a:ext cx="7772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i="1" u="none" strike="noStrike">
                <a:solidFill>
                  <a:srgbClr val="8fa3bc"/>
                </a:solidFill>
                <a:effectLst/>
                <a:uFillTx/>
                <a:latin typeface="Calibri"/>
                <a:ea typeface="Calibri"/>
              </a:rPr>
              <a:t>"Describe it. Generate it. Test it. Fix your words, not the code."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320040" y="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PHASE 02  |  The Power of Precision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274320" y="822960"/>
            <a:ext cx="3931560" cy="3977280"/>
          </a:xfrm>
          <a:prstGeom prst="rect">
            <a:avLst/>
          </a:prstGeom>
          <a:solidFill>
            <a:srgbClr val="fdf0ee"/>
          </a:solidFill>
          <a:ln w="19050">
            <a:solidFill>
              <a:srgbClr val="e8c4c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3"/>
          <p:cNvSpPr/>
          <p:nvPr/>
        </p:nvSpPr>
        <p:spPr>
          <a:xfrm>
            <a:off x="274320" y="822960"/>
            <a:ext cx="63720" cy="39772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4"/>
          <p:cNvSpPr/>
          <p:nvPr/>
        </p:nvSpPr>
        <p:spPr>
          <a:xfrm>
            <a:off x="457200" y="91440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❌  Vague prompt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5"/>
          <p:cNvSpPr/>
          <p:nvPr/>
        </p:nvSpPr>
        <p:spPr>
          <a:xfrm>
            <a:off x="411480" y="1371600"/>
            <a:ext cx="3657240" cy="594000"/>
          </a:xfrm>
          <a:prstGeom prst="rect">
            <a:avLst/>
          </a:prstGeom>
          <a:solidFill>
            <a:srgbClr val="f8e0dc"/>
          </a:solidFill>
          <a:ln w="12700">
            <a:solidFill>
              <a:srgbClr val="f8e0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457200" y="1371600"/>
            <a:ext cx="35658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0392b"/>
                </a:solidFill>
                <a:effectLst/>
                <a:uFillTx/>
                <a:latin typeface="Consolas"/>
                <a:ea typeface="Consolas"/>
              </a:rPr>
              <a:t>"Make a traffic light."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457200" y="2148840"/>
            <a:ext cx="356580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Autofit/>
          </a:bodyPr>
          <a:p>
            <a:r>
              <a:rPr lang="en-US" sz="1300" b="0" u="none" strike="noStrike">
                <a:solidFill>
                  <a:srgbClr val="8b3a3a"/>
                </a:solidFill>
                <a:effectLst/>
                <a:uFillTx/>
                <a:latin typeface="Calibri"/>
                <a:ea typeface="Calibri"/>
              </a:rPr>
              <a:t>✗  No hardware specified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8b3a3a"/>
                </a:solidFill>
                <a:effectLst/>
                <a:uFillTx/>
                <a:latin typeface="Calibri"/>
                <a:ea typeface="Calibri"/>
              </a:rPr>
              <a:t>✗  No behavior described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8b3a3a"/>
                </a:solidFill>
                <a:effectLst/>
                <a:uFillTx/>
                <a:latin typeface="Calibri"/>
                <a:ea typeface="Calibri"/>
              </a:rPr>
              <a:t>✗  No timing or conditions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lang="en-US" sz="1300" b="0" u="none" strike="noStrike">
                <a:solidFill>
                  <a:srgbClr val="8b3a3a"/>
                </a:solidFill>
                <a:effectLst/>
                <a:uFillTx/>
                <a:latin typeface="Calibri"/>
                <a:ea typeface="Calibri"/>
              </a:rPr>
              <a:t>✗  No code comments requested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8"/>
          <p:cNvSpPr/>
          <p:nvPr/>
        </p:nvSpPr>
        <p:spPr>
          <a:xfrm>
            <a:off x="4937760" y="822960"/>
            <a:ext cx="3931560" cy="3977280"/>
          </a:xfrm>
          <a:prstGeom prst="rect">
            <a:avLst/>
          </a:prstGeom>
          <a:solidFill>
            <a:srgbClr val="eaf6ee"/>
          </a:solidFill>
          <a:ln w="19050">
            <a:solidFill>
              <a:srgbClr val="b8dfc4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9"/>
          <p:cNvSpPr/>
          <p:nvPr/>
        </p:nvSpPr>
        <p:spPr>
          <a:xfrm>
            <a:off x="4937760" y="822960"/>
            <a:ext cx="63720" cy="397728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5120640" y="91440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a7a4a"/>
                </a:solidFill>
                <a:effectLst/>
                <a:uFillTx/>
                <a:latin typeface="Calibri"/>
                <a:ea typeface="Calibri"/>
              </a:rPr>
              <a:t>✓  Precise prompt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1"/>
          <p:cNvSpPr/>
          <p:nvPr/>
        </p:nvSpPr>
        <p:spPr>
          <a:xfrm>
            <a:off x="5074920" y="1371600"/>
            <a:ext cx="3657240" cy="1371240"/>
          </a:xfrm>
          <a:prstGeom prst="rect">
            <a:avLst/>
          </a:prstGeom>
          <a:solidFill>
            <a:srgbClr val="d8f0de"/>
          </a:solidFill>
          <a:ln w="12700">
            <a:solidFill>
              <a:srgbClr val="d8f0d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5120640" y="1389960"/>
            <a:ext cx="3520080" cy="13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a5c35"/>
                </a:solidFill>
                <a:effectLst/>
                <a:uFillTx/>
                <a:latin typeface="Consolas"/>
                <a:ea typeface="Consolas"/>
              </a:rPr>
              <a:t>"Write C++ code for an ESP32 on Wokwi that simulates a pedestrian traffic light. Red: 10s, Green: 8s, Yellow: 3s. When button pressed during red, activate pedestrian signal 6s..."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5120640" y="2907720"/>
            <a:ext cx="356580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Autofit/>
          </a:bodyPr>
          <a:p>
            <a:r>
              <a:rPr lang="en-US" sz="1300" b="0" u="none" strike="noStrike">
                <a:solidFill>
                  <a:srgbClr val="1a5c35"/>
                </a:solidFill>
                <a:effectLst/>
                <a:uFillTx/>
                <a:latin typeface="Calibri"/>
                <a:ea typeface="Calibri"/>
              </a:rPr>
              <a:t>✓  Hardware specified (ESP32 + Wokwi)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1a5c35"/>
                </a:solidFill>
                <a:effectLst/>
                <a:uFillTx/>
                <a:latin typeface="Calibri"/>
                <a:ea typeface="Calibri"/>
              </a:rPr>
              <a:t>✓  Behavior described precisely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1a5c35"/>
                </a:solidFill>
                <a:effectLst/>
                <a:uFillTx/>
                <a:latin typeface="Calibri"/>
                <a:ea typeface="Calibri"/>
              </a:rPr>
              <a:t>✓  Timing and conditions included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lang="en-US" sz="1300" b="0" u="none" strike="noStrike">
                <a:solidFill>
                  <a:srgbClr val="1a5c35"/>
                </a:solidFill>
                <a:effectLst/>
                <a:uFillTx/>
                <a:latin typeface="Calibri"/>
                <a:ea typeface="Calibri"/>
              </a:rPr>
              <a:t>✓  Comments in plain English requested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4"/>
          <p:cNvSpPr/>
          <p:nvPr/>
        </p:nvSpPr>
        <p:spPr>
          <a:xfrm>
            <a:off x="4316040" y="2743200"/>
            <a:ext cx="502560" cy="36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5"/>
          <p:cNvSpPr/>
          <p:nvPr/>
        </p:nvSpPr>
        <p:spPr>
          <a:xfrm>
            <a:off x="4251960" y="2541960"/>
            <a:ext cx="639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0d1b2a"/>
                </a:solidFill>
                <a:effectLst/>
                <a:uFillTx/>
                <a:latin typeface="Calibri"/>
              </a:rPr>
              <a:t>→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4206240" y="2971800"/>
            <a:ext cx="7311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language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precision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0"/>
          <p:cNvSpPr/>
          <p:nvPr/>
        </p:nvSpPr>
        <p:spPr>
          <a:xfrm>
            <a:off x="0" y="0"/>
            <a:ext cx="9143640" cy="594000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320040" y="0"/>
            <a:ext cx="85035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PHASE 02  |  Your Turn — Work in Pairs  |  10 minutes  |  No writing code yourself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"/>
          <p:cNvSpPr/>
          <p:nvPr/>
        </p:nvSpPr>
        <p:spPr>
          <a:xfrm>
            <a:off x="274320" y="731520"/>
            <a:ext cx="4937400" cy="4160160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3"/>
          <p:cNvSpPr/>
          <p:nvPr/>
        </p:nvSpPr>
        <p:spPr>
          <a:xfrm>
            <a:off x="274320" y="731520"/>
            <a:ext cx="63720" cy="41601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4"/>
          <p:cNvSpPr/>
          <p:nvPr/>
        </p:nvSpPr>
        <p:spPr>
          <a:xfrm>
            <a:off x="457200" y="82296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300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YOUR MISSION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5"/>
          <p:cNvSpPr/>
          <p:nvPr/>
        </p:nvSpPr>
        <p:spPr>
          <a:xfrm>
            <a:off x="411480" y="1261800"/>
            <a:ext cx="4663080" cy="14169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457200" y="1298520"/>
            <a:ext cx="4525920" cy="13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d8ea"/>
                </a:solidFill>
                <a:effectLst/>
                <a:uFillTx/>
                <a:latin typeface="Consolas"/>
                <a:ea typeface="Consolas"/>
              </a:rPr>
              <a:t>"Write C++ code for an ESP32 on Wokwi that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d8ea"/>
                </a:solidFill>
                <a:effectLst/>
                <a:uFillTx/>
                <a:latin typeface="Consolas"/>
                <a:ea typeface="Consolas"/>
              </a:rPr>
              <a:t>simulates a traffic light system for a school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d8ea"/>
                </a:solidFill>
                <a:effectLst/>
                <a:uFillTx/>
                <a:latin typeface="Consolas"/>
                <a:ea typeface="Consolas"/>
              </a:rPr>
              <a:t>crossing. The system should: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d8ea"/>
                </a:solidFill>
                <a:effectLst/>
                <a:uFillTx/>
                <a:latin typeface="Consolas"/>
                <a:ea typeface="Consolas"/>
              </a:rPr>
              <a:t>   — ______________________________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d8ea"/>
                </a:solidFill>
                <a:effectLst/>
                <a:uFillTx/>
                <a:latin typeface="Consolas"/>
                <a:ea typeface="Consolas"/>
              </a:rPr>
              <a:t>   — ______________________________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d8ea"/>
                </a:solidFill>
                <a:effectLst/>
                <a:uFillTx/>
                <a:latin typeface="Consolas"/>
                <a:ea typeface="Consolas"/>
              </a:rPr>
              <a:t>   — ______________________________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d8ea"/>
                </a:solidFill>
                <a:effectLst/>
                <a:uFillTx/>
                <a:latin typeface="Consolas"/>
                <a:ea typeface="Consolas"/>
              </a:rPr>
              <a:t>Add comments in plain English."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7"/>
          <p:cNvSpPr/>
          <p:nvPr/>
        </p:nvSpPr>
        <p:spPr>
          <a:xfrm>
            <a:off x="457200" y="2816280"/>
            <a:ext cx="457164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Autofit/>
          </a:bodyPr>
          <a:p>
            <a:r>
              <a:rPr lang="en-US" sz="13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Step 1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Complete the prompt above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Step 2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Generate code → paste into Wokwi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Step 3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 it. Fix your words, not the code.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Step 4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Generate a rubric for this activity.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8"/>
          <p:cNvSpPr/>
          <p:nvPr/>
        </p:nvSpPr>
        <p:spPr>
          <a:xfrm>
            <a:off x="5394960" y="731520"/>
            <a:ext cx="3474360" cy="4160160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9"/>
          <p:cNvSpPr/>
          <p:nvPr/>
        </p:nvSpPr>
        <p:spPr>
          <a:xfrm>
            <a:off x="5394960" y="82296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300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OPEN WOKWI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0"/>
          <p:cNvSpPr/>
          <p:nvPr/>
        </p:nvSpPr>
        <p:spPr>
          <a:xfrm>
            <a:off x="5760720" y="1298520"/>
            <a:ext cx="2742840" cy="2742840"/>
          </a:xfrm>
          <a:prstGeom prst="rect">
            <a:avLst/>
          </a:prstGeom>
          <a:solidFill>
            <a:srgbClr val="1e2d3d"/>
          </a:solidFill>
          <a:ln w="254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1"/>
          <p:cNvSpPr/>
          <p:nvPr/>
        </p:nvSpPr>
        <p:spPr>
          <a:xfrm>
            <a:off x="5870520" y="1408320"/>
            <a:ext cx="383760" cy="3837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2"/>
          <p:cNvSpPr/>
          <p:nvPr/>
        </p:nvSpPr>
        <p:spPr>
          <a:xfrm>
            <a:off x="6346080" y="1408320"/>
            <a:ext cx="383760" cy="3837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3"/>
          <p:cNvSpPr/>
          <p:nvPr/>
        </p:nvSpPr>
        <p:spPr>
          <a:xfrm>
            <a:off x="6821280" y="1408320"/>
            <a:ext cx="383760" cy="3837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4"/>
          <p:cNvSpPr/>
          <p:nvPr/>
        </p:nvSpPr>
        <p:spPr>
          <a:xfrm>
            <a:off x="7296840" y="1408320"/>
            <a:ext cx="383760" cy="3837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5"/>
          <p:cNvSpPr/>
          <p:nvPr/>
        </p:nvSpPr>
        <p:spPr>
          <a:xfrm>
            <a:off x="7772400" y="1408320"/>
            <a:ext cx="383760" cy="3837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6"/>
          <p:cNvSpPr/>
          <p:nvPr/>
        </p:nvSpPr>
        <p:spPr>
          <a:xfrm>
            <a:off x="5870520" y="1883520"/>
            <a:ext cx="383760" cy="3837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7"/>
          <p:cNvSpPr/>
          <p:nvPr/>
        </p:nvSpPr>
        <p:spPr>
          <a:xfrm>
            <a:off x="7772400" y="1883520"/>
            <a:ext cx="383760" cy="3837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8"/>
          <p:cNvSpPr/>
          <p:nvPr/>
        </p:nvSpPr>
        <p:spPr>
          <a:xfrm>
            <a:off x="5870520" y="2359080"/>
            <a:ext cx="383760" cy="3837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9"/>
          <p:cNvSpPr/>
          <p:nvPr/>
        </p:nvSpPr>
        <p:spPr>
          <a:xfrm>
            <a:off x="6821280" y="2359080"/>
            <a:ext cx="383760" cy="3837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0"/>
          <p:cNvSpPr/>
          <p:nvPr/>
        </p:nvSpPr>
        <p:spPr>
          <a:xfrm>
            <a:off x="7772400" y="2359080"/>
            <a:ext cx="383760" cy="3837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21"/>
          <p:cNvSpPr/>
          <p:nvPr/>
        </p:nvSpPr>
        <p:spPr>
          <a:xfrm>
            <a:off x="5870520" y="2834640"/>
            <a:ext cx="383760" cy="3837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2"/>
          <p:cNvSpPr/>
          <p:nvPr/>
        </p:nvSpPr>
        <p:spPr>
          <a:xfrm>
            <a:off x="7772400" y="2834640"/>
            <a:ext cx="383760" cy="3837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3"/>
          <p:cNvSpPr/>
          <p:nvPr/>
        </p:nvSpPr>
        <p:spPr>
          <a:xfrm>
            <a:off x="5870520" y="3310200"/>
            <a:ext cx="383760" cy="3837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4"/>
          <p:cNvSpPr/>
          <p:nvPr/>
        </p:nvSpPr>
        <p:spPr>
          <a:xfrm>
            <a:off x="6346080" y="3310200"/>
            <a:ext cx="383760" cy="3837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25"/>
          <p:cNvSpPr/>
          <p:nvPr/>
        </p:nvSpPr>
        <p:spPr>
          <a:xfrm>
            <a:off x="6821280" y="3310200"/>
            <a:ext cx="383760" cy="3837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6"/>
          <p:cNvSpPr/>
          <p:nvPr/>
        </p:nvSpPr>
        <p:spPr>
          <a:xfrm>
            <a:off x="7296840" y="3310200"/>
            <a:ext cx="383760" cy="3837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7"/>
          <p:cNvSpPr/>
          <p:nvPr/>
        </p:nvSpPr>
        <p:spPr>
          <a:xfrm>
            <a:off x="7772400" y="3310200"/>
            <a:ext cx="383760" cy="3837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8"/>
          <p:cNvSpPr/>
          <p:nvPr/>
        </p:nvSpPr>
        <p:spPr>
          <a:xfrm>
            <a:off x="5532120" y="4133160"/>
            <a:ext cx="3291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8fa3bc"/>
                </a:solidFill>
                <a:effectLst/>
                <a:uFillTx/>
                <a:latin typeface="Calibri"/>
                <a:ea typeface="Calibri"/>
              </a:rPr>
              <a:t>[ Replace with Wokwi QR code 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320040" y="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PHASE 02  |  Step 4 — Generate the Rubric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2"/>
          <p:cNvSpPr/>
          <p:nvPr/>
        </p:nvSpPr>
        <p:spPr>
          <a:xfrm>
            <a:off x="320040" y="868680"/>
            <a:ext cx="8503560" cy="288000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548640" y="1024200"/>
            <a:ext cx="145800" cy="1458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4"/>
          <p:cNvSpPr/>
          <p:nvPr/>
        </p:nvSpPr>
        <p:spPr>
          <a:xfrm>
            <a:off x="804600" y="1024200"/>
            <a:ext cx="145800" cy="145800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5"/>
          <p:cNvSpPr/>
          <p:nvPr/>
        </p:nvSpPr>
        <p:spPr>
          <a:xfrm>
            <a:off x="1060560" y="1024200"/>
            <a:ext cx="145800" cy="1458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457200" y="1234440"/>
            <a:ext cx="8320680" cy="242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Consolas"/>
                <a:ea typeface="Consolas"/>
              </a:rPr>
              <a:t>"Generate a rubric to assess a </a:t>
            </a:r>
            <a:r>
              <a:rPr lang="en-US" sz="1400" b="1" u="none" strike="noStrike">
                <a:solidFill>
                  <a:srgbClr val="e8b84b"/>
                </a:solidFill>
                <a:effectLst/>
                <a:uFillTx/>
                <a:latin typeface="Consolas"/>
                <a:ea typeface="Consolas"/>
              </a:rPr>
              <a:t>Grade 10 student's</a:t>
            </a: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Consolas"/>
                <a:ea typeface="Consolas"/>
              </a:rPr>
              <a:t> traffic light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Consolas"/>
                <a:ea typeface="Consolas"/>
              </a:rPr>
              <a:t>system description and simulation.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Consolas"/>
                <a:ea typeface="Consolas"/>
              </a:rPr>
              <a:t>Use the following grading scale: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b84b"/>
                </a:solidFill>
                <a:effectLst/>
                <a:uFillTx/>
                <a:latin typeface="Consolas"/>
                <a:ea typeface="Consolas"/>
              </a:rPr>
              <a:t>1, 1.3, 1.7, 2, 2.3, 2.7, 3, 3.3, 3.7, 4</a:t>
            </a: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Consolas"/>
                <a:ea typeface="Consolas"/>
              </a:rPr>
              <a:t> — where 4 is the highest.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Consolas"/>
                <a:ea typeface="Consolas"/>
              </a:rPr>
              <a:t>Assess three criteria: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a8d8ea"/>
                </a:solidFill>
                <a:effectLst/>
                <a:uFillTx/>
                <a:latin typeface="Consolas"/>
                <a:ea typeface="Consolas"/>
              </a:rPr>
              <a:t>  1. Accuracy of system description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a8d8ea"/>
                </a:solidFill>
                <a:effectLst/>
                <a:uFillTx/>
                <a:latin typeface="Consolas"/>
                <a:ea typeface="Consolas"/>
              </a:rPr>
              <a:t>  2. Quality of justification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a8d8ea"/>
                </a:solidFill>
                <a:effectLst/>
                <a:uFillTx/>
                <a:latin typeface="Consolas"/>
                <a:ea typeface="Consolas"/>
              </a:rPr>
              <a:t>  3. Evidence of testing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Consolas"/>
                <a:ea typeface="Consolas"/>
              </a:rPr>
              <a:t>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7"/>
          <p:cNvSpPr/>
          <p:nvPr/>
        </p:nvSpPr>
        <p:spPr>
          <a:xfrm>
            <a:off x="320040" y="3913560"/>
            <a:ext cx="8503560" cy="868320"/>
          </a:xfrm>
          <a:prstGeom prst="rect">
            <a:avLst/>
          </a:prstGeom>
          <a:solidFill>
            <a:srgbClr val="fff8e8"/>
          </a:solidFill>
          <a:ln w="1905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8"/>
          <p:cNvSpPr/>
          <p:nvPr/>
        </p:nvSpPr>
        <p:spPr>
          <a:xfrm>
            <a:off x="320040" y="3913560"/>
            <a:ext cx="63720" cy="86832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9"/>
          <p:cNvSpPr/>
          <p:nvPr/>
        </p:nvSpPr>
        <p:spPr>
          <a:xfrm>
            <a:off x="502920" y="3913560"/>
            <a:ext cx="8229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6b4a00"/>
                </a:solidFill>
                <a:effectLst/>
                <a:uFillTx/>
                <a:latin typeface="Calibri"/>
                <a:ea typeface="Calibri"/>
              </a:rPr>
              <a:t>💾  Save this prompt. Change three words next time → new rubric in 30 seconds. This is your prompt library.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5029200" y="-365760"/>
            <a:ext cx="4571640" cy="548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0" b="1" u="none" strike="noStrike">
                <a:solidFill>
                  <a:srgbClr val="ffffff">
                    <a:alpha val="8000"/>
                  </a:srgbClr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2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"/>
          <p:cNvSpPr/>
          <p:nvPr/>
        </p:nvSpPr>
        <p:spPr>
          <a:xfrm>
            <a:off x="411480" y="100584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pc="499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PHASE 03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411480" y="1463040"/>
            <a:ext cx="68576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 Evaluator</a:t>
            </a:r>
            <a:endParaRPr lang="en-US" sz="5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411480" y="2606040"/>
            <a:ext cx="6400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u="none" strike="noStrike">
                <a:solidFill>
                  <a:srgbClr val="e8b84b"/>
                </a:solidFill>
                <a:effectLst/>
                <a:uFillTx/>
                <a:latin typeface="Calibri"/>
                <a:ea typeface="Calibri"/>
              </a:rPr>
              <a:t>AI for Grading and Formative Feedback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5"/>
          <p:cNvSpPr/>
          <p:nvPr/>
        </p:nvSpPr>
        <p:spPr>
          <a:xfrm>
            <a:off x="411480" y="3291840"/>
            <a:ext cx="1919880" cy="475200"/>
          </a:xfrm>
          <a:prstGeom prst="roundRect">
            <a:avLst>
              <a:gd name="adj" fmla="val 15385"/>
            </a:avLst>
          </a:prstGeom>
          <a:solidFill>
            <a:srgbClr val="1b2e45"/>
          </a:solidFill>
          <a:ln w="1905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6"/>
          <p:cNvSpPr/>
          <p:nvPr/>
        </p:nvSpPr>
        <p:spPr>
          <a:xfrm>
            <a:off x="411480" y="3291840"/>
            <a:ext cx="1919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0:29 – 0:47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7"/>
          <p:cNvSpPr/>
          <p:nvPr/>
        </p:nvSpPr>
        <p:spPr>
          <a:xfrm>
            <a:off x="411480" y="4023360"/>
            <a:ext cx="6857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i="1" u="none" strike="noStrike">
                <a:solidFill>
                  <a:srgbClr val="8fa3bc"/>
                </a:solidFill>
                <a:effectLst/>
                <a:uFillTx/>
                <a:latin typeface="Calibri"/>
                <a:ea typeface="Calibri"/>
              </a:rPr>
              <a:t>"AI gives you a first pass. You make the final call."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"/>
          <p:cNvSpPr/>
          <p:nvPr/>
        </p:nvSpPr>
        <p:spPr>
          <a:xfrm>
            <a:off x="320040" y="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PHASE 03  |  Grade This Together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"/>
          <p:cNvSpPr/>
          <p:nvPr/>
        </p:nvSpPr>
        <p:spPr>
          <a:xfrm>
            <a:off x="274320" y="822960"/>
            <a:ext cx="4023000" cy="4068720"/>
          </a:xfrm>
          <a:prstGeom prst="rect">
            <a:avLst/>
          </a:prstGeom>
          <a:solidFill>
            <a:srgbClr val="fdf0ee"/>
          </a:solidFill>
          <a:ln w="12700">
            <a:solidFill>
              <a:srgbClr val="e0c8c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3"/>
          <p:cNvSpPr/>
          <p:nvPr/>
        </p:nvSpPr>
        <p:spPr>
          <a:xfrm>
            <a:off x="274320" y="822960"/>
            <a:ext cx="63720" cy="4068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4"/>
          <p:cNvSpPr/>
          <p:nvPr/>
        </p:nvSpPr>
        <p:spPr>
          <a:xfrm>
            <a:off x="457200" y="91440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201" strike="noStrik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STUDENT RESPONSE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5"/>
          <p:cNvSpPr/>
          <p:nvPr/>
        </p:nvSpPr>
        <p:spPr>
          <a:xfrm>
            <a:off x="457200" y="1353240"/>
            <a:ext cx="3702960" cy="33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5a2a28"/>
                </a:solidFill>
                <a:effectLst/>
                <a:uFillTx/>
                <a:latin typeface="Calibri"/>
                <a:ea typeface="Calibri"/>
              </a:rPr>
              <a:t>"My traffic light system works by changing colors. First it goes red then green then yellow. I added a button for pedestrians. When they press it the light changes. I tested it and it worked fine. I think it meets the requirements because the lights change correctly."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4846320" y="822960"/>
            <a:ext cx="4023000" cy="4068720"/>
          </a:xfrm>
          <a:prstGeom prst="rect">
            <a:avLst/>
          </a:prstGeom>
          <a:solidFill>
            <a:srgbClr val="eaf6ee"/>
          </a:solidFill>
          <a:ln w="12700">
            <a:solidFill>
              <a:srgbClr val="b8d8c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7"/>
          <p:cNvSpPr/>
          <p:nvPr/>
        </p:nvSpPr>
        <p:spPr>
          <a:xfrm>
            <a:off x="4846320" y="822960"/>
            <a:ext cx="63720" cy="406872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8"/>
          <p:cNvSpPr/>
          <p:nvPr/>
        </p:nvSpPr>
        <p:spPr>
          <a:xfrm>
            <a:off x="5029200" y="91440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201" strike="noStrike">
                <a:solidFill>
                  <a:srgbClr val="1a7a4a"/>
                </a:solidFill>
                <a:effectLst/>
                <a:uFillTx/>
                <a:latin typeface="Calibri"/>
                <a:ea typeface="Calibri"/>
              </a:rPr>
              <a:t>YOUR RUBRIC (from Phase 2)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9"/>
          <p:cNvSpPr/>
          <p:nvPr/>
        </p:nvSpPr>
        <p:spPr>
          <a:xfrm>
            <a:off x="4983480" y="1353240"/>
            <a:ext cx="959760" cy="383760"/>
          </a:xfrm>
          <a:prstGeom prst="rect">
            <a:avLst/>
          </a:prstGeom>
          <a:solidFill>
            <a:srgbClr val="1a7a4a"/>
          </a:solidFill>
          <a:ln w="6350">
            <a:solidFill>
              <a:srgbClr val="b8d8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0"/>
          <p:cNvSpPr/>
          <p:nvPr/>
        </p:nvSpPr>
        <p:spPr>
          <a:xfrm>
            <a:off x="4983480" y="1353240"/>
            <a:ext cx="959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Criterion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1"/>
          <p:cNvSpPr/>
          <p:nvPr/>
        </p:nvSpPr>
        <p:spPr>
          <a:xfrm>
            <a:off x="5943600" y="1353240"/>
            <a:ext cx="868320" cy="383760"/>
          </a:xfrm>
          <a:prstGeom prst="rect">
            <a:avLst/>
          </a:prstGeom>
          <a:solidFill>
            <a:srgbClr val="1a7a4a"/>
          </a:solidFill>
          <a:ln w="6350">
            <a:solidFill>
              <a:srgbClr val="b8d8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2"/>
          <p:cNvSpPr/>
          <p:nvPr/>
        </p:nvSpPr>
        <p:spPr>
          <a:xfrm>
            <a:off x="5943600" y="1353240"/>
            <a:ext cx="868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 – 1.7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13"/>
          <p:cNvSpPr/>
          <p:nvPr/>
        </p:nvSpPr>
        <p:spPr>
          <a:xfrm>
            <a:off x="6812280" y="1353240"/>
            <a:ext cx="868320" cy="383760"/>
          </a:xfrm>
          <a:prstGeom prst="rect">
            <a:avLst/>
          </a:prstGeom>
          <a:solidFill>
            <a:srgbClr val="1a7a4a"/>
          </a:solidFill>
          <a:ln w="6350">
            <a:solidFill>
              <a:srgbClr val="b8d8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4"/>
          <p:cNvSpPr/>
          <p:nvPr/>
        </p:nvSpPr>
        <p:spPr>
          <a:xfrm>
            <a:off x="6812280" y="1353240"/>
            <a:ext cx="868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 – 2.7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5"/>
          <p:cNvSpPr/>
          <p:nvPr/>
        </p:nvSpPr>
        <p:spPr>
          <a:xfrm>
            <a:off x="7680960" y="1353240"/>
            <a:ext cx="868320" cy="383760"/>
          </a:xfrm>
          <a:prstGeom prst="rect">
            <a:avLst/>
          </a:prstGeom>
          <a:solidFill>
            <a:srgbClr val="1a7a4a"/>
          </a:solidFill>
          <a:ln w="6350">
            <a:solidFill>
              <a:srgbClr val="b8d8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6"/>
          <p:cNvSpPr/>
          <p:nvPr/>
        </p:nvSpPr>
        <p:spPr>
          <a:xfrm>
            <a:off x="7680960" y="1353240"/>
            <a:ext cx="868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 – 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7"/>
          <p:cNvSpPr/>
          <p:nvPr/>
        </p:nvSpPr>
        <p:spPr>
          <a:xfrm>
            <a:off x="4983480" y="1737360"/>
            <a:ext cx="959760" cy="685440"/>
          </a:xfrm>
          <a:prstGeom prst="rect">
            <a:avLst/>
          </a:prstGeom>
          <a:solidFill>
            <a:srgbClr val="eaf6ee"/>
          </a:solidFill>
          <a:ln w="6350">
            <a:solidFill>
              <a:srgbClr val="b8d8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8"/>
          <p:cNvSpPr/>
          <p:nvPr/>
        </p:nvSpPr>
        <p:spPr>
          <a:xfrm>
            <a:off x="4983480" y="1737360"/>
            <a:ext cx="9597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1a7a4a"/>
                </a:solidFill>
                <a:effectLst/>
                <a:uFillTx/>
                <a:latin typeface="Calibri"/>
                <a:ea typeface="Calibri"/>
              </a:rPr>
              <a:t>System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1a7a4a"/>
                </a:solidFill>
                <a:effectLst/>
                <a:uFillTx/>
                <a:latin typeface="Calibri"/>
                <a:ea typeface="Calibri"/>
              </a:rPr>
              <a:t>description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19"/>
          <p:cNvSpPr/>
          <p:nvPr/>
        </p:nvSpPr>
        <p:spPr>
          <a:xfrm>
            <a:off x="5943600" y="1737360"/>
            <a:ext cx="868320" cy="685440"/>
          </a:xfrm>
          <a:prstGeom prst="rect">
            <a:avLst/>
          </a:prstGeom>
          <a:solidFill>
            <a:srgbClr val="eaf6ee"/>
          </a:solidFill>
          <a:ln w="6350">
            <a:solidFill>
              <a:srgbClr val="b8d8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0"/>
          <p:cNvSpPr/>
          <p:nvPr/>
        </p:nvSpPr>
        <p:spPr>
          <a:xfrm>
            <a:off x="5943600" y="1737360"/>
            <a:ext cx="868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c4a38"/>
                </a:solidFill>
                <a:effectLst/>
                <a:uFillTx/>
                <a:latin typeface="Calibri"/>
                <a:ea typeface="Calibri"/>
              </a:rPr>
              <a:t>Vague or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c4a38"/>
                </a:solidFill>
                <a:effectLst/>
                <a:uFillTx/>
                <a:latin typeface="Calibri"/>
                <a:ea typeface="Calibri"/>
              </a:rPr>
              <a:t>incomplete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21"/>
          <p:cNvSpPr/>
          <p:nvPr/>
        </p:nvSpPr>
        <p:spPr>
          <a:xfrm>
            <a:off x="6812280" y="1737360"/>
            <a:ext cx="868320" cy="685440"/>
          </a:xfrm>
          <a:prstGeom prst="rect">
            <a:avLst/>
          </a:prstGeom>
          <a:solidFill>
            <a:srgbClr val="eaf6ee"/>
          </a:solidFill>
          <a:ln w="6350">
            <a:solidFill>
              <a:srgbClr val="b8d8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2"/>
          <p:cNvSpPr/>
          <p:nvPr/>
        </p:nvSpPr>
        <p:spPr>
          <a:xfrm>
            <a:off x="6812280" y="1737360"/>
            <a:ext cx="868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c4a38"/>
                </a:solidFill>
                <a:effectLst/>
                <a:uFillTx/>
                <a:latin typeface="Calibri"/>
                <a:ea typeface="Calibri"/>
              </a:rPr>
              <a:t>Mostly clear,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c4a38"/>
                </a:solidFill>
                <a:effectLst/>
                <a:uFillTx/>
                <a:latin typeface="Calibri"/>
                <a:ea typeface="Calibri"/>
              </a:rPr>
              <a:t>some gaps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23"/>
          <p:cNvSpPr/>
          <p:nvPr/>
        </p:nvSpPr>
        <p:spPr>
          <a:xfrm>
            <a:off x="7680960" y="1737360"/>
            <a:ext cx="868320" cy="685440"/>
          </a:xfrm>
          <a:prstGeom prst="rect">
            <a:avLst/>
          </a:prstGeom>
          <a:solidFill>
            <a:srgbClr val="eaf6ee"/>
          </a:solidFill>
          <a:ln w="6350">
            <a:solidFill>
              <a:srgbClr val="b8d8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4"/>
          <p:cNvSpPr/>
          <p:nvPr/>
        </p:nvSpPr>
        <p:spPr>
          <a:xfrm>
            <a:off x="7680960" y="1737360"/>
            <a:ext cx="868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c4a38"/>
                </a:solidFill>
                <a:effectLst/>
                <a:uFillTx/>
                <a:latin typeface="Calibri"/>
                <a:ea typeface="Calibri"/>
              </a:rPr>
              <a:t>Precise and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c4a38"/>
                </a:solidFill>
                <a:effectLst/>
                <a:uFillTx/>
                <a:latin typeface="Calibri"/>
                <a:ea typeface="Calibri"/>
              </a:rPr>
              <a:t>complete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5"/>
          <p:cNvSpPr/>
          <p:nvPr/>
        </p:nvSpPr>
        <p:spPr>
          <a:xfrm>
            <a:off x="4983480" y="2423160"/>
            <a:ext cx="959760" cy="685440"/>
          </a:xfrm>
          <a:prstGeom prst="rect">
            <a:avLst/>
          </a:prstGeom>
          <a:solidFill>
            <a:srgbClr val="f0faf3"/>
          </a:solidFill>
          <a:ln w="6350">
            <a:solidFill>
              <a:srgbClr val="b8d8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6"/>
          <p:cNvSpPr/>
          <p:nvPr/>
        </p:nvSpPr>
        <p:spPr>
          <a:xfrm>
            <a:off x="4983480" y="2423160"/>
            <a:ext cx="9597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1a7a4a"/>
                </a:solidFill>
                <a:effectLst/>
                <a:uFillTx/>
                <a:latin typeface="Calibri"/>
                <a:ea typeface="Calibri"/>
              </a:rPr>
              <a:t>Justification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27"/>
          <p:cNvSpPr/>
          <p:nvPr/>
        </p:nvSpPr>
        <p:spPr>
          <a:xfrm>
            <a:off x="5943600" y="2423160"/>
            <a:ext cx="868320" cy="685440"/>
          </a:xfrm>
          <a:prstGeom prst="rect">
            <a:avLst/>
          </a:prstGeom>
          <a:solidFill>
            <a:srgbClr val="f0faf3"/>
          </a:solidFill>
          <a:ln w="6350">
            <a:solidFill>
              <a:srgbClr val="b8d8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8"/>
          <p:cNvSpPr/>
          <p:nvPr/>
        </p:nvSpPr>
        <p:spPr>
          <a:xfrm>
            <a:off x="5943600" y="2423160"/>
            <a:ext cx="868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c4a38"/>
                </a:solidFill>
                <a:effectLst/>
                <a:uFillTx/>
                <a:latin typeface="Calibri"/>
                <a:ea typeface="Calibri"/>
              </a:rPr>
              <a:t>No reasoning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c4a38"/>
                </a:solidFill>
                <a:effectLst/>
                <a:uFillTx/>
                <a:latin typeface="Calibri"/>
                <a:ea typeface="Calibri"/>
              </a:rPr>
              <a:t>given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29"/>
          <p:cNvSpPr/>
          <p:nvPr/>
        </p:nvSpPr>
        <p:spPr>
          <a:xfrm>
            <a:off x="6812280" y="2423160"/>
            <a:ext cx="868320" cy="685440"/>
          </a:xfrm>
          <a:prstGeom prst="rect">
            <a:avLst/>
          </a:prstGeom>
          <a:solidFill>
            <a:srgbClr val="f0faf3"/>
          </a:solidFill>
          <a:ln w="6350">
            <a:solidFill>
              <a:srgbClr val="b8d8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30"/>
          <p:cNvSpPr/>
          <p:nvPr/>
        </p:nvSpPr>
        <p:spPr>
          <a:xfrm>
            <a:off x="6812280" y="2423160"/>
            <a:ext cx="868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c4a38"/>
                </a:solidFill>
                <a:effectLst/>
                <a:uFillTx/>
                <a:latin typeface="Calibri"/>
                <a:ea typeface="Calibri"/>
              </a:rPr>
              <a:t>Some reasoning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c4a38"/>
                </a:solidFill>
                <a:effectLst/>
                <a:uFillTx/>
                <a:latin typeface="Calibri"/>
                <a:ea typeface="Calibri"/>
              </a:rPr>
              <a:t>present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31"/>
          <p:cNvSpPr/>
          <p:nvPr/>
        </p:nvSpPr>
        <p:spPr>
          <a:xfrm>
            <a:off x="7680960" y="2423160"/>
            <a:ext cx="868320" cy="685440"/>
          </a:xfrm>
          <a:prstGeom prst="rect">
            <a:avLst/>
          </a:prstGeom>
          <a:solidFill>
            <a:srgbClr val="f0faf3"/>
          </a:solidFill>
          <a:ln w="6350">
            <a:solidFill>
              <a:srgbClr val="b8d8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32"/>
          <p:cNvSpPr/>
          <p:nvPr/>
        </p:nvSpPr>
        <p:spPr>
          <a:xfrm>
            <a:off x="7680960" y="2423160"/>
            <a:ext cx="868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c4a38"/>
                </a:solidFill>
                <a:effectLst/>
                <a:uFillTx/>
                <a:latin typeface="Calibri"/>
                <a:ea typeface="Calibri"/>
              </a:rPr>
              <a:t>Fully justified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33"/>
          <p:cNvSpPr/>
          <p:nvPr/>
        </p:nvSpPr>
        <p:spPr>
          <a:xfrm>
            <a:off x="4983480" y="3108960"/>
            <a:ext cx="959760" cy="685440"/>
          </a:xfrm>
          <a:prstGeom prst="rect">
            <a:avLst/>
          </a:prstGeom>
          <a:solidFill>
            <a:srgbClr val="eaf6ee"/>
          </a:solidFill>
          <a:ln w="6350">
            <a:solidFill>
              <a:srgbClr val="b8d8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34"/>
          <p:cNvSpPr/>
          <p:nvPr/>
        </p:nvSpPr>
        <p:spPr>
          <a:xfrm>
            <a:off x="4983480" y="3108960"/>
            <a:ext cx="9597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1a7a4a"/>
                </a:solidFill>
                <a:effectLst/>
                <a:uFillTx/>
                <a:latin typeface="Calibri"/>
                <a:ea typeface="Calibri"/>
              </a:rPr>
              <a:t>Testing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1a7a4a"/>
                </a:solidFill>
                <a:effectLst/>
                <a:uFillTx/>
                <a:latin typeface="Calibri"/>
                <a:ea typeface="Calibri"/>
              </a:rPr>
              <a:t>evidence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35"/>
          <p:cNvSpPr/>
          <p:nvPr/>
        </p:nvSpPr>
        <p:spPr>
          <a:xfrm>
            <a:off x="5943600" y="3108960"/>
            <a:ext cx="868320" cy="685440"/>
          </a:xfrm>
          <a:prstGeom prst="rect">
            <a:avLst/>
          </a:prstGeom>
          <a:solidFill>
            <a:srgbClr val="eaf6ee"/>
          </a:solidFill>
          <a:ln w="6350">
            <a:solidFill>
              <a:srgbClr val="b8d8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36"/>
          <p:cNvSpPr/>
          <p:nvPr/>
        </p:nvSpPr>
        <p:spPr>
          <a:xfrm>
            <a:off x="5943600" y="3108960"/>
            <a:ext cx="868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c4a38"/>
                </a:solidFill>
                <a:effectLst/>
                <a:uFillTx/>
                <a:latin typeface="Calibri"/>
                <a:ea typeface="Calibri"/>
              </a:rPr>
              <a:t>Not mentioned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37"/>
          <p:cNvSpPr/>
          <p:nvPr/>
        </p:nvSpPr>
        <p:spPr>
          <a:xfrm>
            <a:off x="6812280" y="3108960"/>
            <a:ext cx="868320" cy="685440"/>
          </a:xfrm>
          <a:prstGeom prst="rect">
            <a:avLst/>
          </a:prstGeom>
          <a:solidFill>
            <a:srgbClr val="eaf6ee"/>
          </a:solidFill>
          <a:ln w="6350">
            <a:solidFill>
              <a:srgbClr val="b8d8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8"/>
          <p:cNvSpPr/>
          <p:nvPr/>
        </p:nvSpPr>
        <p:spPr>
          <a:xfrm>
            <a:off x="6812280" y="3108960"/>
            <a:ext cx="868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c4a38"/>
                </a:solidFill>
                <a:effectLst/>
                <a:uFillTx/>
                <a:latin typeface="Calibri"/>
                <a:ea typeface="Calibri"/>
              </a:rPr>
              <a:t>Basic testing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c4a38"/>
                </a:solidFill>
                <a:effectLst/>
                <a:uFillTx/>
                <a:latin typeface="Calibri"/>
                <a:ea typeface="Calibri"/>
              </a:rPr>
              <a:t>described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39"/>
          <p:cNvSpPr/>
          <p:nvPr/>
        </p:nvSpPr>
        <p:spPr>
          <a:xfrm>
            <a:off x="7680960" y="3108960"/>
            <a:ext cx="868320" cy="685440"/>
          </a:xfrm>
          <a:prstGeom prst="rect">
            <a:avLst/>
          </a:prstGeom>
          <a:solidFill>
            <a:srgbClr val="eaf6ee"/>
          </a:solidFill>
          <a:ln w="6350">
            <a:solidFill>
              <a:srgbClr val="b8d8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40"/>
          <p:cNvSpPr/>
          <p:nvPr/>
        </p:nvSpPr>
        <p:spPr>
          <a:xfrm>
            <a:off x="7680960" y="3108960"/>
            <a:ext cx="868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c4a38"/>
                </a:solidFill>
                <a:effectLst/>
                <a:uFillTx/>
                <a:latin typeface="Calibri"/>
                <a:ea typeface="Calibri"/>
              </a:rPr>
              <a:t>Systematic,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c4a38"/>
                </a:solidFill>
                <a:effectLst/>
                <a:uFillTx/>
                <a:latin typeface="Calibri"/>
                <a:ea typeface="Calibri"/>
              </a:rPr>
              <a:t>with results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41"/>
          <p:cNvSpPr/>
          <p:nvPr/>
        </p:nvSpPr>
        <p:spPr>
          <a:xfrm>
            <a:off x="4983480" y="437076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a6b4a"/>
                </a:solidFill>
                <a:effectLst/>
                <a:uFillTx/>
                <a:latin typeface="Calibri"/>
                <a:ea typeface="Calibri"/>
              </a:rPr>
              <a:t>Scale: 1 · 1.3 · 1.7 · 2 · 2.3 · 2.7 · 3 · 3.3 · 3.7 · 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320040" y="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PHASE 03  |  The Grading Prompt — Everyone send this now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2"/>
          <p:cNvSpPr/>
          <p:nvPr/>
        </p:nvSpPr>
        <p:spPr>
          <a:xfrm>
            <a:off x="320040" y="868680"/>
            <a:ext cx="8503560" cy="310860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3"/>
          <p:cNvSpPr/>
          <p:nvPr/>
        </p:nvSpPr>
        <p:spPr>
          <a:xfrm>
            <a:off x="548640" y="1024200"/>
            <a:ext cx="145800" cy="1458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4"/>
          <p:cNvSpPr/>
          <p:nvPr/>
        </p:nvSpPr>
        <p:spPr>
          <a:xfrm>
            <a:off x="804600" y="1024200"/>
            <a:ext cx="145800" cy="145800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5"/>
          <p:cNvSpPr/>
          <p:nvPr/>
        </p:nvSpPr>
        <p:spPr>
          <a:xfrm>
            <a:off x="1060560" y="1024200"/>
            <a:ext cx="145800" cy="1458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6"/>
          <p:cNvSpPr/>
          <p:nvPr/>
        </p:nvSpPr>
        <p:spPr>
          <a:xfrm>
            <a:off x="457200" y="1234440"/>
            <a:ext cx="832068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ctr">
            <a:noAutofit/>
          </a:bodyPr>
          <a:p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"You are a </a:t>
            </a:r>
            <a:r>
              <a:rPr lang="en-US" sz="1400" b="1" u="none" strike="noStrike">
                <a:solidFill>
                  <a:srgbClr val="e8b84b"/>
                </a:solidFill>
                <a:effectLst/>
                <a:uFillTx/>
                <a:latin typeface="Adwaita Mono"/>
                <a:ea typeface="Consolas"/>
              </a:rPr>
              <a:t>Design and Technology teacher</a:t>
            </a: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 using the rubric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  <a:p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below to assess a student's work.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  <a:p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For each criterion, state the grade using the scale: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  <a:p>
            <a:r>
              <a:rPr lang="en-US" sz="1400" b="1" u="none" strike="noStrike">
                <a:solidFill>
                  <a:srgbClr val="e8b84b"/>
                </a:solidFill>
                <a:effectLst/>
                <a:uFillTx/>
                <a:latin typeface="Adwaita Mono"/>
                <a:ea typeface="Consolas"/>
              </a:rPr>
              <a:t>1, 1.3, 1.7, 2, 2.3, 2.7, 3, 3.3, 3.7, 4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  <a:p>
            <a:r>
              <a:rPr lang="en-US" sz="1400" b="1" u="none" strike="noStrike">
                <a:solidFill>
                  <a:srgbClr val="e8b84b"/>
                </a:solidFill>
                <a:effectLst/>
                <a:uFillTx/>
                <a:latin typeface="Adwaita Mono"/>
                <a:ea typeface="Consolas"/>
              </a:rPr>
              <a:t>Explain specifically what is missing and how the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  <a:p>
            <a:r>
              <a:rPr lang="en-US" sz="1400" b="1" u="none" strike="noStrike">
                <a:solidFill>
                  <a:srgbClr val="e8b84b"/>
                </a:solidFill>
                <a:effectLst/>
                <a:uFillTx/>
                <a:latin typeface="Adwaita Mono"/>
                <a:ea typeface="Consolas"/>
              </a:rPr>
              <a:t>student could improve to reach a higher level."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ea"/>
                </a:solidFill>
                <a:effectLst/>
                <a:uFillTx/>
                <a:latin typeface="Adwaita Mono"/>
                <a:ea typeface="Consolas"/>
              </a:rPr>
              <a:t>→  Then paste the rubric + the student response below the prompt.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dwaita Mono"/>
            </a:endParaRPr>
          </a:p>
        </p:txBody>
      </p:sp>
      <p:sp>
        <p:nvSpPr>
          <p:cNvPr id="170" name="Shape 7"/>
          <p:cNvSpPr/>
          <p:nvPr/>
        </p:nvSpPr>
        <p:spPr>
          <a:xfrm>
            <a:off x="320040" y="4133160"/>
            <a:ext cx="8503560" cy="749520"/>
          </a:xfrm>
          <a:prstGeom prst="rect">
            <a:avLst/>
          </a:prstGeom>
          <a:solidFill>
            <a:srgbClr val="eef4fb"/>
          </a:solidFill>
          <a:ln w="12700">
            <a:solidFill>
              <a:srgbClr val="b8c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8"/>
          <p:cNvSpPr/>
          <p:nvPr/>
        </p:nvSpPr>
        <p:spPr>
          <a:xfrm>
            <a:off x="457200" y="4133160"/>
            <a:ext cx="832068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i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Is this accurate?   Is it fair?   Would you send this to a student as written, or would you edit it first?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 0"/>
          <p:cNvSpPr/>
          <p:nvPr/>
        </p:nvSpPr>
        <p:spPr>
          <a:xfrm>
            <a:off x="0" y="274320"/>
            <a:ext cx="914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pc="799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SCAN NOW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"/>
          <p:cNvSpPr/>
          <p:nvPr/>
        </p:nvSpPr>
        <p:spPr>
          <a:xfrm>
            <a:off x="0" y="804600"/>
            <a:ext cx="9143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Everything from today is on this page.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2"/>
          <p:cNvSpPr/>
          <p:nvPr/>
        </p:nvSpPr>
        <p:spPr>
          <a:xfrm>
            <a:off x="3017520" y="1325880"/>
            <a:ext cx="3108600" cy="3108600"/>
          </a:xfrm>
          <a:prstGeom prst="rect">
            <a:avLst/>
          </a:prstGeom>
          <a:solidFill>
            <a:srgbClr val="ffffff"/>
          </a:solidFill>
          <a:ln w="38100">
            <a:solidFill>
              <a:srgbClr val="c8952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3"/>
          <p:cNvSpPr/>
          <p:nvPr/>
        </p:nvSpPr>
        <p:spPr>
          <a:xfrm>
            <a:off x="3017520" y="233172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cccccc"/>
                </a:solidFill>
                <a:effectLst/>
                <a:uFillTx/>
                <a:latin typeface="Calibri"/>
                <a:ea typeface="Calibri"/>
              </a:rPr>
              <a:t>QR CODE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"/>
          <p:cNvSpPr/>
          <p:nvPr/>
        </p:nvSpPr>
        <p:spPr>
          <a:xfrm>
            <a:off x="3017520" y="2834640"/>
            <a:ext cx="3108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aaaaaa"/>
                </a:solidFill>
                <a:effectLst/>
                <a:uFillTx/>
                <a:latin typeface="Calibri"/>
                <a:ea typeface="Calibri"/>
              </a:rPr>
              <a:t>[ Replace with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aaaaaa"/>
                </a:solidFill>
                <a:effectLst/>
                <a:uFillTx/>
                <a:latin typeface="Calibri"/>
                <a:ea typeface="Calibri"/>
              </a:rPr>
              <a:t>workshop website URL 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5"/>
          <p:cNvSpPr/>
          <p:nvPr/>
        </p:nvSpPr>
        <p:spPr>
          <a:xfrm>
            <a:off x="3127320" y="1435680"/>
            <a:ext cx="411120" cy="411120"/>
          </a:xfrm>
          <a:prstGeom prst="rect">
            <a:avLst/>
          </a:prstGeom>
          <a:solidFill>
            <a:srgbClr val="dddddd"/>
          </a:solidFill>
          <a:ln w="12700">
            <a:solidFill>
              <a:srgbClr val="bbbbb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6"/>
          <p:cNvSpPr/>
          <p:nvPr/>
        </p:nvSpPr>
        <p:spPr>
          <a:xfrm>
            <a:off x="3200400" y="1508760"/>
            <a:ext cx="264960" cy="264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7"/>
          <p:cNvSpPr/>
          <p:nvPr/>
        </p:nvSpPr>
        <p:spPr>
          <a:xfrm>
            <a:off x="5102280" y="1435680"/>
            <a:ext cx="411120" cy="411120"/>
          </a:xfrm>
          <a:prstGeom prst="rect">
            <a:avLst/>
          </a:prstGeom>
          <a:solidFill>
            <a:srgbClr val="dddddd"/>
          </a:solidFill>
          <a:ln w="12700">
            <a:solidFill>
              <a:srgbClr val="bbbbb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8"/>
          <p:cNvSpPr/>
          <p:nvPr/>
        </p:nvSpPr>
        <p:spPr>
          <a:xfrm>
            <a:off x="5175360" y="1508760"/>
            <a:ext cx="264960" cy="264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9"/>
          <p:cNvSpPr/>
          <p:nvPr/>
        </p:nvSpPr>
        <p:spPr>
          <a:xfrm>
            <a:off x="3127320" y="3410640"/>
            <a:ext cx="411120" cy="411120"/>
          </a:xfrm>
          <a:prstGeom prst="rect">
            <a:avLst/>
          </a:prstGeom>
          <a:solidFill>
            <a:srgbClr val="dddddd"/>
          </a:solidFill>
          <a:ln w="12700">
            <a:solidFill>
              <a:srgbClr val="bbbbb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0"/>
          <p:cNvSpPr/>
          <p:nvPr/>
        </p:nvSpPr>
        <p:spPr>
          <a:xfrm>
            <a:off x="3200400" y="3483720"/>
            <a:ext cx="264960" cy="264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1"/>
          <p:cNvSpPr/>
          <p:nvPr/>
        </p:nvSpPr>
        <p:spPr>
          <a:xfrm>
            <a:off x="914400" y="459936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8fa3bc"/>
                </a:solidFill>
                <a:effectLst/>
                <a:uFillTx/>
                <a:latin typeface="Calibri"/>
                <a:ea typeface="Calibri"/>
              </a:rPr>
              <a:t>3 ready-to-use prompts  ·  Wokwi simulation  ·  Rubric template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2"/>
          <p:cNvSpPr/>
          <p:nvPr/>
        </p:nvSpPr>
        <p:spPr>
          <a:xfrm>
            <a:off x="914400" y="486468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8fa3bc"/>
                </a:solidFill>
                <a:effectLst/>
                <a:uFillTx/>
                <a:latin typeface="Calibri"/>
                <a:ea typeface="Calibri"/>
              </a:rPr>
              <a:t>Webpage generator prompt  ·  Exam grading tool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"/>
          <p:cNvSpPr/>
          <p:nvPr/>
        </p:nvSpPr>
        <p:spPr>
          <a:xfrm>
            <a:off x="411480" y="731520"/>
            <a:ext cx="8412120" cy="2559960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2"/>
          <p:cNvSpPr/>
          <p:nvPr/>
        </p:nvSpPr>
        <p:spPr>
          <a:xfrm>
            <a:off x="411480" y="731520"/>
            <a:ext cx="63720" cy="2559960"/>
          </a:xfrm>
          <a:prstGeom prst="rect">
            <a:avLst/>
          </a:prstGeom>
          <a:solidFill>
            <a:srgbClr val="c8952a"/>
          </a:solidFill>
          <a:ln w="1270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3"/>
          <p:cNvSpPr/>
          <p:nvPr/>
        </p:nvSpPr>
        <p:spPr>
          <a:xfrm>
            <a:off x="594360" y="685800"/>
            <a:ext cx="9140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200" b="0" u="none" strike="noStrike">
                <a:solidFill>
                  <a:srgbClr val="c8952a"/>
                </a:solidFill>
                <a:effectLst/>
                <a:uFillTx/>
                <a:latin typeface="Georgia"/>
                <a:ea typeface="Georgia"/>
              </a:rPr>
              <a:t>"</a:t>
            </a:r>
            <a:endParaRPr lang="en-US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4"/>
          <p:cNvSpPr/>
          <p:nvPr/>
        </p:nvSpPr>
        <p:spPr>
          <a:xfrm>
            <a:off x="685800" y="1417320"/>
            <a:ext cx="790920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AI will not make you a better teacher by itself.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What it will do is give you back time.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What you do with that time —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that's still entirely you.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5"/>
          <p:cNvSpPr/>
          <p:nvPr/>
        </p:nvSpPr>
        <p:spPr>
          <a:xfrm>
            <a:off x="640080" y="3520440"/>
            <a:ext cx="2102760" cy="685440"/>
          </a:xfrm>
          <a:prstGeom prst="ellipse">
            <a:avLst/>
          </a:prstGeom>
          <a:solidFill>
            <a:srgbClr val="1b2e45"/>
          </a:solidFill>
          <a:ln w="1905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6"/>
          <p:cNvSpPr/>
          <p:nvPr/>
        </p:nvSpPr>
        <p:spPr>
          <a:xfrm>
            <a:off x="640080" y="3520440"/>
            <a:ext cx="21027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PLAN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7"/>
          <p:cNvSpPr/>
          <p:nvPr/>
        </p:nvSpPr>
        <p:spPr>
          <a:xfrm>
            <a:off x="548640" y="4279320"/>
            <a:ext cx="2285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8fa3bc"/>
                </a:solidFill>
                <a:effectLst/>
                <a:uFillTx/>
                <a:latin typeface="Calibri"/>
                <a:ea typeface="Calibri"/>
              </a:rPr>
              <a:t>Lesson planning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8fa3bc"/>
                </a:solidFill>
                <a:effectLst/>
                <a:uFillTx/>
                <a:latin typeface="Calibri"/>
                <a:ea typeface="Calibri"/>
              </a:rPr>
              <a:t>with AI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8"/>
          <p:cNvSpPr/>
          <p:nvPr/>
        </p:nvSpPr>
        <p:spPr>
          <a:xfrm>
            <a:off x="2788920" y="3566160"/>
            <a:ext cx="548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c8952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9"/>
          <p:cNvSpPr/>
          <p:nvPr/>
        </p:nvSpPr>
        <p:spPr>
          <a:xfrm>
            <a:off x="3474720" y="3520440"/>
            <a:ext cx="2102760" cy="685440"/>
          </a:xfrm>
          <a:prstGeom prst="ellipse">
            <a:avLst/>
          </a:prstGeom>
          <a:solidFill>
            <a:srgbClr val="c8952a"/>
          </a:solidFill>
          <a:ln w="1905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0"/>
          <p:cNvSpPr/>
          <p:nvPr/>
        </p:nvSpPr>
        <p:spPr>
          <a:xfrm>
            <a:off x="3474720" y="3520440"/>
            <a:ext cx="21027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CREATE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1"/>
          <p:cNvSpPr/>
          <p:nvPr/>
        </p:nvSpPr>
        <p:spPr>
          <a:xfrm>
            <a:off x="3383280" y="4279320"/>
            <a:ext cx="2285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8fa3bc"/>
                </a:solidFill>
                <a:effectLst/>
                <a:uFillTx/>
                <a:latin typeface="Calibri"/>
                <a:ea typeface="Calibri"/>
              </a:rPr>
              <a:t>Students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8fa3bc"/>
                </a:solidFill>
                <a:effectLst/>
                <a:uFillTx/>
                <a:latin typeface="Calibri"/>
                <a:ea typeface="Calibri"/>
              </a:rPr>
              <a:t>with AI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2"/>
          <p:cNvSpPr/>
          <p:nvPr/>
        </p:nvSpPr>
        <p:spPr>
          <a:xfrm>
            <a:off x="5623560" y="3566160"/>
            <a:ext cx="548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c8952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13"/>
          <p:cNvSpPr/>
          <p:nvPr/>
        </p:nvSpPr>
        <p:spPr>
          <a:xfrm>
            <a:off x="6309360" y="3520440"/>
            <a:ext cx="2102760" cy="685440"/>
          </a:xfrm>
          <a:prstGeom prst="ellipse">
            <a:avLst/>
          </a:prstGeom>
          <a:solidFill>
            <a:srgbClr val="1b2e45"/>
          </a:solidFill>
          <a:ln w="19050">
            <a:solidFill>
              <a:srgbClr val="c89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4"/>
          <p:cNvSpPr/>
          <p:nvPr/>
        </p:nvSpPr>
        <p:spPr>
          <a:xfrm>
            <a:off x="6309360" y="3520440"/>
            <a:ext cx="21027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c8952a"/>
                </a:solidFill>
                <a:effectLst/>
                <a:uFillTx/>
                <a:latin typeface="Calibri"/>
                <a:ea typeface="Calibri"/>
              </a:rPr>
              <a:t>ASSESS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5"/>
          <p:cNvSpPr/>
          <p:nvPr/>
        </p:nvSpPr>
        <p:spPr>
          <a:xfrm>
            <a:off x="6217920" y="4279320"/>
            <a:ext cx="2285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8fa3bc"/>
                </a:solidFill>
                <a:effectLst/>
                <a:uFillTx/>
                <a:latin typeface="Calibri"/>
                <a:ea typeface="Calibri"/>
              </a:rPr>
              <a:t>Grading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8fa3bc"/>
                </a:solidFill>
                <a:effectLst/>
                <a:uFillTx/>
                <a:latin typeface="Calibri"/>
                <a:ea typeface="Calibri"/>
              </a:rPr>
              <a:t>with AI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6"/>
          <p:cNvSpPr/>
          <p:nvPr/>
        </p:nvSpPr>
        <p:spPr>
          <a:xfrm>
            <a:off x="411480" y="4773240"/>
            <a:ext cx="8412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8fa3bc"/>
                </a:solidFill>
                <a:effectLst/>
                <a:uFillTx/>
                <a:latin typeface="Calibri"/>
                <a:ea typeface="Calibri"/>
              </a:rPr>
              <a:t>Andrés Forero  |  andres.forero@marymount.edu.co  |  Marymount Medellín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LibreOffice/25.8.4.2$Linux_X86_64 LibreOffice_project/580$Build-2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2026-04-17T01:07:37Z</dcterms:created>
  <dc:creator>Andrés Forero</dc:creator>
  <dc:description/>
  <dc:language>en-US</dc:language>
  <cp:lastModifiedBy/>
  <dcterms:modified xsi:type="dcterms:W3CDTF">2026-04-17T10:13:40Z</dcterms:modified>
  <cp:revision>2</cp:revision>
  <dc:subject>PptxGenJS Presentation</dc:subject>
  <dc:title>Mastering the Loop — Workshop Slides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13</vt:i4>
  </property>
  <property fmtid="{D5CDD505-2E9C-101B-9397-08002B2CF9AE}" pid="3" name="PresentationFormat">
    <vt:lpwstr>On-screen Show (16:9)</vt:lpwstr>
  </property>
  <property fmtid="{D5CDD505-2E9C-101B-9397-08002B2CF9AE}" pid="4" name="Slides">
    <vt:i4>13</vt:i4>
  </property>
</Properties>
</file>